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rdo Bold" charset="1" panose="02020804080000020003"/>
      <p:regular r:id="rId22"/>
    </p:embeddedFont>
    <p:embeddedFont>
      <p:font typeface="Open Sauce" charset="1" panose="00000500000000000000"/>
      <p:regular r:id="rId23"/>
    </p:embeddedFont>
    <p:embeddedFont>
      <p:font typeface="Canva Sans" charset="1" panose="020B0503030501040103"/>
      <p:regular r:id="rId24"/>
    </p:embeddedFont>
    <p:embeddedFont>
      <p:font typeface="Open Sauce Bold" charset="1" panose="00000800000000000000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1391" y="1779012"/>
            <a:ext cx="8911179" cy="5751761"/>
          </a:xfrm>
          <a:custGeom>
            <a:avLst/>
            <a:gdLst/>
            <a:ahLst/>
            <a:cxnLst/>
            <a:rect r="r" b="b" t="t" l="l"/>
            <a:pathLst>
              <a:path h="5751761" w="8911179">
                <a:moveTo>
                  <a:pt x="0" y="0"/>
                </a:moveTo>
                <a:lnTo>
                  <a:pt x="8911179" y="0"/>
                </a:lnTo>
                <a:lnTo>
                  <a:pt x="8911179" y="5751761"/>
                </a:lnTo>
                <a:lnTo>
                  <a:pt x="0" y="575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1530" y="1623822"/>
            <a:ext cx="26316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55312"/>
            <a:ext cx="9335237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tru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Real time action recognition with 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30598"/>
            <a:ext cx="527685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Comp 4531 Project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Chong Shing Tai (20854213)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Chong Shing Yuk (20870114)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Ho Po Wa (20886333)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Ng Wing Huen (20792037)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89458"/>
            <a:ext cx="8115300" cy="477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638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  <a:p>
            <a:pPr algn="l" marL="647697" indent="-323848" lvl="1">
              <a:lnSpc>
                <a:spcPts val="638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Data collection and System Desgin</a:t>
            </a:r>
          </a:p>
          <a:p>
            <a:pPr algn="l" marL="647697" indent="-323848" lvl="1">
              <a:lnSpc>
                <a:spcPts val="638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Model training and results</a:t>
            </a:r>
          </a:p>
          <a:p>
            <a:pPr algn="l" marL="647697" indent="-323848" lvl="1">
              <a:lnSpc>
                <a:spcPts val="638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Technical challenges</a:t>
            </a:r>
          </a:p>
          <a:p>
            <a:pPr algn="l" marL="647697" indent="-323848" lvl="1">
              <a:lnSpc>
                <a:spcPts val="638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Division of Work</a:t>
            </a:r>
          </a:p>
          <a:p>
            <a:pPr algn="l" marL="647697" indent="-323848" lvl="1">
              <a:lnSpc>
                <a:spcPts val="6389"/>
              </a:lnSpc>
              <a:buFont typeface="Arial"/>
              <a:buChar char="•"/>
            </a:pPr>
            <a:r>
              <a:rPr lang="en-US" sz="2999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8400211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Agenda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97079" y="1231157"/>
            <a:ext cx="5858614" cy="7543800"/>
            <a:chOff x="0" y="0"/>
            <a:chExt cx="7811485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2786" y="0"/>
              <a:ext cx="4885376" cy="4877572"/>
            </a:xfrm>
            <a:custGeom>
              <a:avLst/>
              <a:gdLst/>
              <a:ahLst/>
              <a:cxnLst/>
              <a:rect r="r" b="b" t="t" l="l"/>
              <a:pathLst>
                <a:path h="4877572" w="4885376">
                  <a:moveTo>
                    <a:pt x="0" y="0"/>
                  </a:moveTo>
                  <a:lnTo>
                    <a:pt x="4885376" y="0"/>
                  </a:lnTo>
                  <a:lnTo>
                    <a:pt x="4885376" y="4877572"/>
                  </a:lnTo>
                  <a:lnTo>
                    <a:pt x="0" y="4877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2247552">
              <a:off x="4257025" y="3399535"/>
              <a:ext cx="2960802" cy="2956072"/>
            </a:xfrm>
            <a:custGeom>
              <a:avLst/>
              <a:gdLst/>
              <a:ahLst/>
              <a:cxnLst/>
              <a:rect r="r" b="b" t="t" l="l"/>
              <a:pathLst>
                <a:path h="2956072" w="2960802">
                  <a:moveTo>
                    <a:pt x="0" y="0"/>
                  </a:moveTo>
                  <a:lnTo>
                    <a:pt x="2960802" y="0"/>
                  </a:lnTo>
                  <a:lnTo>
                    <a:pt x="2960802" y="2956073"/>
                  </a:lnTo>
                  <a:lnTo>
                    <a:pt x="0" y="295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2893323">
              <a:off x="835299" y="5159263"/>
              <a:ext cx="4066828" cy="4060331"/>
            </a:xfrm>
            <a:custGeom>
              <a:avLst/>
              <a:gdLst/>
              <a:ahLst/>
              <a:cxnLst/>
              <a:rect r="r" b="b" t="t" l="l"/>
              <a:pathLst>
                <a:path h="4060331" w="4066828">
                  <a:moveTo>
                    <a:pt x="0" y="0"/>
                  </a:moveTo>
                  <a:lnTo>
                    <a:pt x="4066828" y="0"/>
                  </a:lnTo>
                  <a:lnTo>
                    <a:pt x="4066828" y="4060331"/>
                  </a:lnTo>
                  <a:lnTo>
                    <a:pt x="0" y="4060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69796"/>
            <a:ext cx="15518801" cy="773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3"/>
              </a:lnSpc>
            </a:pPr>
            <a:r>
              <a:rPr lang="en-US" sz="2921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long working/ study hours (&gt;8 hours) contributing to long-term sitting</a:t>
            </a:r>
          </a:p>
          <a:p>
            <a:pPr algn="l" marL="630785" indent="-315393" lvl="1">
              <a:lnSpc>
                <a:spcPts val="6223"/>
              </a:lnSpc>
              <a:buFont typeface="Arial"/>
              <a:buChar char="•"/>
            </a:pP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simple sitting activity, if not monitored properly, can result in back pain, neck pain, shoulder pain or even some serious musculoskeletal disorders</a:t>
            </a:r>
          </a:p>
          <a:p>
            <a:pPr algn="l" marL="630785" indent="-315393" lvl="1">
              <a:lnSpc>
                <a:spcPts val="6223"/>
              </a:lnSpc>
              <a:buFont typeface="Arial"/>
              <a:buChar char="•"/>
            </a:pPr>
            <a:r>
              <a:rPr lang="en-US" b="true" sz="292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ML </a:t>
            </a: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helps identify </a:t>
            </a:r>
            <a:r>
              <a:rPr lang="en-US" b="true" sz="292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poor sitting postures</a:t>
            </a: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in real time </a:t>
            </a:r>
          </a:p>
          <a:p>
            <a:pPr algn="l" marL="630785" indent="-315393" lvl="1">
              <a:lnSpc>
                <a:spcPts val="6223"/>
              </a:lnSpc>
              <a:buFont typeface="Arial"/>
              <a:buChar char="•"/>
            </a:pP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Target users: </a:t>
            </a:r>
            <a:r>
              <a:rPr lang="en-US" b="true" sz="292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office workers and students (young people)</a:t>
            </a:r>
          </a:p>
          <a:p>
            <a:pPr algn="l">
              <a:lnSpc>
                <a:spcPts val="6223"/>
              </a:lnSpc>
            </a:pP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Compare with previous work: </a:t>
            </a:r>
            <a:r>
              <a:rPr lang="en-US" b="true" sz="292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Pressure sensor</a:t>
            </a:r>
          </a:p>
          <a:p>
            <a:pPr algn="l" marL="1261571" indent="-420524" lvl="2">
              <a:lnSpc>
                <a:spcPts val="6223"/>
              </a:lnSpc>
              <a:buFont typeface="Arial"/>
              <a:buChar char="⚬"/>
            </a:pPr>
            <a:r>
              <a:rPr lang="en-US" b="true" sz="292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92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 general</a:t>
            </a: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(different body shape?)</a:t>
            </a:r>
          </a:p>
          <a:p>
            <a:pPr algn="l" marL="1261571" indent="-420524" lvl="2">
              <a:lnSpc>
                <a:spcPts val="6223"/>
              </a:lnSpc>
              <a:buFont typeface="Arial"/>
              <a:buChar char="⚬"/>
            </a:pPr>
            <a:r>
              <a:rPr lang="en-US" b="true" sz="2921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Limited postures</a:t>
            </a: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(difficult to extend)</a:t>
            </a:r>
          </a:p>
          <a:p>
            <a:pPr algn="l" marL="1261571" indent="-420524" lvl="2">
              <a:lnSpc>
                <a:spcPts val="6223"/>
              </a:lnSpc>
              <a:buFont typeface="Arial"/>
              <a:buChar char="⚬"/>
            </a:pPr>
            <a:r>
              <a:rPr lang="en-US" sz="2921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each time need to set up a chair one by one?</a:t>
            </a:r>
          </a:p>
          <a:p>
            <a:pPr algn="l">
              <a:lnSpc>
                <a:spcPts val="6223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115794" y="6467211"/>
            <a:ext cx="6143506" cy="3385863"/>
          </a:xfrm>
          <a:custGeom>
            <a:avLst/>
            <a:gdLst/>
            <a:ahLst/>
            <a:cxnLst/>
            <a:rect r="r" b="b" t="t" l="l"/>
            <a:pathLst>
              <a:path h="3385863" w="6143506">
                <a:moveTo>
                  <a:pt x="0" y="0"/>
                </a:moveTo>
                <a:lnTo>
                  <a:pt x="6143506" y="0"/>
                </a:lnTo>
                <a:lnTo>
                  <a:pt x="6143506" y="3385863"/>
                </a:lnTo>
                <a:lnTo>
                  <a:pt x="0" y="3385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2551"/>
            <a:ext cx="9415714" cy="136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 strike="noStrike" u="non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8940" y="2640517"/>
            <a:ext cx="14975185" cy="281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65860" indent="-388620" lvl="2">
              <a:lnSpc>
                <a:spcPts val="5751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To develop a</a:t>
            </a:r>
            <a:r>
              <a:rPr lang="en-US" b="true" sz="27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lightweight, camera-only, sensor-free action recognition system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for daily activity monitoring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while minimize the disturbance of normal routine</a:t>
            </a:r>
          </a:p>
          <a:p>
            <a:pPr algn="l" marL="1165860" indent="-388620" lvl="2">
              <a:lnSpc>
                <a:spcPts val="5751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To provide </a:t>
            </a:r>
            <a:r>
              <a:rPr lang="en-US" b="true" sz="27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feedback and posture correction alerts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through sound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487025" y="2400300"/>
          <a:ext cx="6378575" cy="7410450"/>
        </p:xfrm>
        <a:graphic>
          <a:graphicData uri="http://schemas.openxmlformats.org/drawingml/2006/table">
            <a:tbl>
              <a:tblPr/>
              <a:tblGrid>
                <a:gridCol w="3189287"/>
                <a:gridCol w="3189287"/>
              </a:tblGrid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1E49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E1E49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Posture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Correct posture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Head down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Turning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Head tilted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Sloping shoulder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Lying down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3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Hands 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00196" y="6380535"/>
            <a:ext cx="3769332" cy="3761378"/>
          </a:xfrm>
          <a:custGeom>
            <a:avLst/>
            <a:gdLst/>
            <a:ahLst/>
            <a:cxnLst/>
            <a:rect r="r" b="b" t="t" l="l"/>
            <a:pathLst>
              <a:path h="3761378" w="3769332">
                <a:moveTo>
                  <a:pt x="0" y="0"/>
                </a:moveTo>
                <a:lnTo>
                  <a:pt x="3769333" y="0"/>
                </a:lnTo>
                <a:lnTo>
                  <a:pt x="3769333" y="3761378"/>
                </a:lnTo>
                <a:lnTo>
                  <a:pt x="0" y="3761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31894" y="6380535"/>
            <a:ext cx="3623438" cy="3761378"/>
          </a:xfrm>
          <a:custGeom>
            <a:avLst/>
            <a:gdLst/>
            <a:ahLst/>
            <a:cxnLst/>
            <a:rect r="r" b="b" t="t" l="l"/>
            <a:pathLst>
              <a:path h="3761378" w="3623438">
                <a:moveTo>
                  <a:pt x="0" y="0"/>
                </a:moveTo>
                <a:lnTo>
                  <a:pt x="3623438" y="0"/>
                </a:lnTo>
                <a:lnTo>
                  <a:pt x="3623438" y="3761378"/>
                </a:lnTo>
                <a:lnTo>
                  <a:pt x="0" y="3761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855" t="0" r="0" b="-596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Dataset and labels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045" y="2841807"/>
            <a:ext cx="8445698" cy="353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Python + OpenCV + MediaPipe Pose used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Each frame records:</a:t>
            </a:r>
          </a:p>
          <a:p>
            <a:pPr algn="l" marL="1165860" indent="-388620" lvl="2">
              <a:lnSpc>
                <a:spcPts val="5751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X and Y coordinates of 33 landmarks → 66 features</a:t>
            </a:r>
          </a:p>
          <a:p>
            <a:pPr algn="l" marL="1165860" indent="-388620" lvl="2">
              <a:lnSpc>
                <a:spcPts val="5751"/>
              </a:lnSpc>
              <a:spcBef>
                <a:spcPct val="0"/>
              </a:spcBef>
              <a:buFont typeface="Arial"/>
              <a:buChar char="⚬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 labeled posture class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95500"/>
            <a:ext cx="14975185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5"/>
              </a:lnSpc>
              <a:spcBef>
                <a:spcPct val="0"/>
              </a:spcBef>
            </a:pP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Dataset: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4700 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tal frames with 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labels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Each sampl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 = 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50 frames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(captur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ed at 0.2s intervals)</a:t>
            </a:r>
          </a:p>
          <a:p>
            <a:pPr algn="l" marL="1511301" indent="-503767" lvl="2">
              <a:lnSpc>
                <a:spcPts val="7455"/>
              </a:lnSpc>
              <a:spcBef>
                <a:spcPct val="0"/>
              </a:spcBef>
              <a:buFont typeface="Arial"/>
              <a:buChar char="⚬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for per-video = 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94 samples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Stor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ed in 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CS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or e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asy preprocessing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170102" y="6860174"/>
            <a:ext cx="10692381" cy="3133677"/>
          </a:xfrm>
          <a:custGeom>
            <a:avLst/>
            <a:gdLst/>
            <a:ahLst/>
            <a:cxnLst/>
            <a:rect r="r" b="b" t="t" l="l"/>
            <a:pathLst>
              <a:path h="3133677" w="10692381">
                <a:moveTo>
                  <a:pt x="0" y="0"/>
                </a:moveTo>
                <a:lnTo>
                  <a:pt x="10692381" y="0"/>
                </a:lnTo>
                <a:lnTo>
                  <a:pt x="10692381" y="3133677"/>
                </a:lnTo>
                <a:lnTo>
                  <a:pt x="0" y="3133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8940" y="2640517"/>
            <a:ext cx="14975185" cy="715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riginally d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gn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f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 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Raspb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ry P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4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+ IM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X219 cam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era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eplaced with laptop and webcam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Font typeface="Arial"/>
              <a:buChar char="•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Workflow: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AutoNum type="arabicPeriod" startAt="1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Run </a:t>
            </a:r>
            <a:r>
              <a:rPr lang="en-US" b="true" sz="27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Python 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in virtual environment (venv)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AutoNum type="arabicPeriod" startAt="1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Captur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 frame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every second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AutoNum type="arabicPeriod" startAt="1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Extract pose via </a:t>
            </a:r>
            <a:r>
              <a:rPr lang="en-US" b="true" sz="27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MediaPipe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AutoNum type="arabicPeriod" startAt="1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Classify using trained model to handle bad posture by alert 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AutoNum type="arabicPeriod" startAt="1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Store classified postures into </a:t>
            </a:r>
            <a:r>
              <a:rPr lang="en-US" b="true" sz="27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CSV</a:t>
            </a: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 marL="582930" indent="-291465" lvl="1">
              <a:lnSpc>
                <a:spcPts val="5751"/>
              </a:lnSpc>
              <a:spcBef>
                <a:spcPct val="0"/>
              </a:spcBef>
              <a:buAutoNum type="arabicPeriod" startAt="1"/>
            </a:pPr>
            <a:r>
              <a:rPr lang="en-US" sz="27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Summarize session at the end</a:t>
            </a:r>
          </a:p>
          <a:p>
            <a:pPr algn="l">
              <a:lnSpc>
                <a:spcPts val="5751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112702" y="4171812"/>
            <a:ext cx="4381423" cy="3737997"/>
          </a:xfrm>
          <a:custGeom>
            <a:avLst/>
            <a:gdLst/>
            <a:ahLst/>
            <a:cxnLst/>
            <a:rect r="r" b="b" t="t" l="l"/>
            <a:pathLst>
              <a:path h="3737997" w="4381423">
                <a:moveTo>
                  <a:pt x="0" y="0"/>
                </a:moveTo>
                <a:lnTo>
                  <a:pt x="4381423" y="0"/>
                </a:lnTo>
                <a:lnTo>
                  <a:pt x="4381423" y="3737998"/>
                </a:lnTo>
                <a:lnTo>
                  <a:pt x="0" y="3737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148749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Hardware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8940" y="2573842"/>
            <a:ext cx="14975185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5"/>
              </a:lnSpc>
            </a:pPr>
            <a:r>
              <a:rPr lang="en-US" sz="3500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</a:t>
            </a: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: skeleton data (33 pose landmarks in x,y directions)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method 1: </a:t>
            </a:r>
            <a:r>
              <a:rPr lang="en-US" b="true" sz="3500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per-frame classification</a:t>
            </a: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(66)</a:t>
            </a:r>
          </a:p>
          <a:p>
            <a:pPr algn="l" marL="755651" indent="-377825" lvl="1">
              <a:lnSpc>
                <a:spcPts val="7455"/>
              </a:lnSpc>
              <a:buFont typeface="Arial"/>
              <a:buChar char="•"/>
            </a:pP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method 2: </a:t>
            </a:r>
            <a:r>
              <a:rPr lang="en-US" b="true" sz="3500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per-video classification</a:t>
            </a: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(50,66) </a:t>
            </a:r>
          </a:p>
          <a:p>
            <a:pPr algn="l">
              <a:lnSpc>
                <a:spcPts val="7455"/>
              </a:lnSpc>
              <a:spcBef>
                <a:spcPct val="0"/>
              </a:spcBef>
            </a:pPr>
          </a:p>
          <a:p>
            <a:pPr algn="l">
              <a:lnSpc>
                <a:spcPts val="7455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Model training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8940" y="5593095"/>
            <a:ext cx="6337261" cy="4462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3"/>
              </a:lnSpc>
              <a:spcBef>
                <a:spcPct val="0"/>
              </a:spcBef>
            </a:pPr>
            <a:r>
              <a:rPr lang="en-US" b="true" sz="2837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MLP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(P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er-fra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fic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tion</a:t>
            </a:r>
            <a:r>
              <a:rPr lang="en-US" b="true" sz="2837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)</a:t>
            </a:r>
          </a:p>
          <a:p>
            <a:pPr algn="l" marL="612622" indent="-306311" lvl="1">
              <a:lnSpc>
                <a:spcPts val="6043"/>
              </a:lnSpc>
              <a:spcBef>
                <a:spcPct val="0"/>
              </a:spcBef>
              <a:buFont typeface="Arial"/>
              <a:buChar char="•"/>
            </a:pP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pu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: 66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featu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(1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rame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algn="l">
              <a:lnSpc>
                <a:spcPts val="6043"/>
              </a:lnSpc>
              <a:spcBef>
                <a:spcPct val="0"/>
              </a:spcBef>
            </a:pP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s:</a:t>
            </a:r>
          </a:p>
          <a:p>
            <a:pPr algn="l" marL="612622" indent="-306311" lvl="1">
              <a:lnSpc>
                <a:spcPts val="6043"/>
              </a:lnSpc>
              <a:spcBef>
                <a:spcPct val="0"/>
              </a:spcBef>
              <a:buFont typeface="Arial"/>
              <a:buChar char="•"/>
            </a:pP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(128)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+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LU</a:t>
            </a:r>
          </a:p>
          <a:p>
            <a:pPr algn="l" marL="612622" indent="-306311" lvl="1">
              <a:lnSpc>
                <a:spcPts val="6043"/>
              </a:lnSpc>
              <a:spcBef>
                <a:spcPct val="0"/>
              </a:spcBef>
              <a:buFont typeface="Arial"/>
              <a:buChar char="•"/>
            </a:pP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ns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(64)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+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LU</a:t>
            </a:r>
          </a:p>
          <a:p>
            <a:pPr algn="l" marL="612622" indent="-306311" lvl="1">
              <a:lnSpc>
                <a:spcPts val="6043"/>
              </a:lnSpc>
              <a:spcBef>
                <a:spcPct val="0"/>
              </a:spcBef>
              <a:buFont typeface="Arial"/>
              <a:buChar char="•"/>
            </a:pP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ens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(8)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+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837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94118" y="5349951"/>
            <a:ext cx="7985958" cy="464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8"/>
              </a:lnSpc>
              <a:spcBef>
                <a:spcPct val="0"/>
              </a:spcBef>
            </a:pPr>
            <a:r>
              <a:rPr lang="en-US" b="true" sz="2210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LSTM</a:t>
            </a:r>
            <a:r>
              <a:rPr lang="en-US" b="true" sz="221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</a:t>
            </a:r>
            <a:r>
              <a:rPr lang="en-US" b="true" sz="221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Vid</a:t>
            </a:r>
            <a:r>
              <a:rPr lang="en-US" b="true" sz="221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eo-based classification)</a:t>
            </a:r>
          </a:p>
          <a:p>
            <a:pPr algn="l" marL="477300" indent="-238650" lvl="1">
              <a:lnSpc>
                <a:spcPts val="4708"/>
              </a:lnSpc>
              <a:spcBef>
                <a:spcPct val="0"/>
              </a:spcBef>
              <a:buFont typeface="Arial"/>
              <a:buChar char="•"/>
            </a:pP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nput: 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50 frames (each with 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66 features)</a:t>
            </a:r>
          </a:p>
          <a:p>
            <a:pPr algn="l">
              <a:lnSpc>
                <a:spcPts val="4708"/>
              </a:lnSpc>
              <a:spcBef>
                <a:spcPct val="0"/>
              </a:spcBef>
            </a:pP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Layers:</a:t>
            </a:r>
          </a:p>
          <a:p>
            <a:pPr algn="l" marL="954599" indent="-318200" lvl="2">
              <a:lnSpc>
                <a:spcPts val="4708"/>
              </a:lnSpc>
              <a:spcBef>
                <a:spcPct val="0"/>
              </a:spcBef>
              <a:buFont typeface="Arial"/>
              <a:buChar char="⚬"/>
            </a:pP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LSTM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(128) → return sequences</a:t>
            </a:r>
          </a:p>
          <a:p>
            <a:pPr algn="l" marL="954599" indent="-318200" lvl="2">
              <a:lnSpc>
                <a:spcPts val="4708"/>
              </a:lnSpc>
              <a:spcBef>
                <a:spcPct val="0"/>
              </a:spcBef>
              <a:buFont typeface="Arial"/>
              <a:buChar char="⚬"/>
            </a:pP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STM (64)</a:t>
            </a:r>
          </a:p>
          <a:p>
            <a:pPr algn="l" marL="954599" indent="-318200" lvl="2">
              <a:lnSpc>
                <a:spcPts val="4708"/>
              </a:lnSpc>
              <a:spcBef>
                <a:spcPct val="0"/>
              </a:spcBef>
              <a:buFont typeface="Arial"/>
              <a:buChar char="⚬"/>
            </a:pP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ense (64) + ReLU</a:t>
            </a:r>
          </a:p>
          <a:p>
            <a:pPr algn="l" marL="954599" indent="-318200" lvl="2">
              <a:lnSpc>
                <a:spcPts val="4708"/>
              </a:lnSpc>
              <a:spcBef>
                <a:spcPct val="0"/>
              </a:spcBef>
              <a:buFont typeface="Arial"/>
              <a:buChar char="⚬"/>
            </a:pP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ropout=0.2</a:t>
            </a:r>
          </a:p>
          <a:p>
            <a:pPr algn="l" marL="954599" indent="-318200" lvl="2">
              <a:lnSpc>
                <a:spcPts val="4708"/>
              </a:lnSpc>
              <a:spcBef>
                <a:spcPct val="0"/>
              </a:spcBef>
              <a:buFont typeface="Arial"/>
              <a:buChar char="⚬"/>
            </a:pP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21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ense (8) + Softmax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8940" y="2573842"/>
            <a:ext cx="14975185" cy="554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5"/>
              </a:lnSpc>
              <a:spcBef>
                <a:spcPct val="0"/>
              </a:spcBef>
            </a:pPr>
            <a:r>
              <a:rPr lang="en-US" b="true" sz="3500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MLP (Per-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frame)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Reliable feature extracti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on 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us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g 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ediaPipe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Well-labeled dataset with balanced class distr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ibution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Model gen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eralizes well to unseen per-frame data</a:t>
            </a:r>
          </a:p>
          <a:p>
            <a:pPr algn="l">
              <a:lnSpc>
                <a:spcPts val="745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Fast inference suitable for real-time applications</a:t>
            </a:r>
          </a:p>
          <a:p>
            <a:pPr algn="l">
              <a:lnSpc>
                <a:spcPts val="74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8940" y="2573842"/>
            <a:ext cx="14975185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5"/>
              </a:lnSpc>
              <a:spcBef>
                <a:spcPct val="0"/>
              </a:spcBef>
            </a:pPr>
            <a:r>
              <a:rPr lang="en-US" b="true" sz="3500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LSTM (Pre-vid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eo)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50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ram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er in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put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equence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Final prediction by majorit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vot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rained for 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100 epochs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with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3500" strike="noStrike" u="non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dropout (0.2)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to reduce overfitting</a:t>
            </a:r>
          </a:p>
          <a:p>
            <a:pPr algn="l">
              <a:lnSpc>
                <a:spcPts val="74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857" y="3820454"/>
            <a:ext cx="6831841" cy="5089722"/>
          </a:xfrm>
          <a:custGeom>
            <a:avLst/>
            <a:gdLst/>
            <a:ahLst/>
            <a:cxnLst/>
            <a:rect r="r" b="b" t="t" l="l"/>
            <a:pathLst>
              <a:path h="5089722" w="6831841">
                <a:moveTo>
                  <a:pt x="0" y="0"/>
                </a:moveTo>
                <a:lnTo>
                  <a:pt x="6831841" y="0"/>
                </a:lnTo>
                <a:lnTo>
                  <a:pt x="6831841" y="5089722"/>
                </a:lnTo>
                <a:lnTo>
                  <a:pt x="0" y="5089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9984" y="3733921"/>
            <a:ext cx="6076029" cy="5524379"/>
          </a:xfrm>
          <a:custGeom>
            <a:avLst/>
            <a:gdLst/>
            <a:ahLst/>
            <a:cxnLst/>
            <a:rect r="r" b="b" t="t" l="l"/>
            <a:pathLst>
              <a:path h="5524379" w="6076029">
                <a:moveTo>
                  <a:pt x="0" y="0"/>
                </a:moveTo>
                <a:lnTo>
                  <a:pt x="6076029" y="0"/>
                </a:lnTo>
                <a:lnTo>
                  <a:pt x="6076029" y="5524379"/>
                </a:lnTo>
                <a:lnTo>
                  <a:pt x="0" y="5524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4857" y="2043090"/>
            <a:ext cx="4996257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5"/>
              </a:lnSpc>
              <a:spcBef>
                <a:spcPct val="0"/>
              </a:spcBef>
            </a:pP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Per-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frame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Accur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y: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94.79%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6883" y="1956556"/>
            <a:ext cx="4996257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5"/>
              </a:lnSpc>
              <a:spcBef>
                <a:spcPct val="0"/>
              </a:spcBef>
            </a:pPr>
            <a:r>
              <a:rPr lang="en-US" sz="35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Per-video</a:t>
            </a:r>
          </a:p>
          <a:p>
            <a:pPr algn="l" marL="755651" indent="-377825" lvl="1">
              <a:lnSpc>
                <a:spcPts val="745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Accur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y: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84.21</a:t>
            </a:r>
            <a:r>
              <a:rPr lang="en-US" sz="3500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 strike="noStrike" u="non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Technical Challenges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3815" y="2114550"/>
            <a:ext cx="14694749" cy="76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3"/>
              </a:lnSpc>
              <a:spcBef>
                <a:spcPct val="0"/>
              </a:spcBef>
            </a:pPr>
            <a:r>
              <a:rPr lang="en-US" sz="3184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Real-Time Processing on Limited Hardware:</a:t>
            </a:r>
          </a:p>
          <a:p>
            <a:pPr algn="l" marL="1375196" indent="-458399" lvl="2">
              <a:lnSpc>
                <a:spcPts val="6783"/>
              </a:lnSpc>
              <a:spcBef>
                <a:spcPct val="0"/>
              </a:spcBef>
              <a:buFont typeface="Arial"/>
              <a:buChar char="⚬"/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Pose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estima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n (OpenPose) is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compu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tationally expensive.</a:t>
            </a:r>
          </a:p>
          <a:p>
            <a:pPr algn="l" marL="1375196" indent="-458399" lvl="2">
              <a:lnSpc>
                <a:spcPts val="6783"/>
              </a:lnSpc>
              <a:spcBef>
                <a:spcPct val="0"/>
              </a:spcBef>
              <a:buFont typeface="Arial"/>
              <a:buChar char="⚬"/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MediaPipe Pose for real-time inference supports only CPU.</a:t>
            </a:r>
          </a:p>
          <a:p>
            <a:pPr algn="l">
              <a:lnSpc>
                <a:spcPts val="6783"/>
              </a:lnSpc>
              <a:spcBef>
                <a:spcPct val="0"/>
              </a:spcBef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Data Priv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y &amp; Storage Constraints:</a:t>
            </a:r>
          </a:p>
          <a:p>
            <a:pPr algn="l" marL="1375196" indent="-458399" lvl="2">
              <a:lnSpc>
                <a:spcPts val="6783"/>
              </a:lnSpc>
              <a:spcBef>
                <a:spcPct val="0"/>
              </a:spcBef>
              <a:buFont typeface="Arial"/>
              <a:buChar char="⚬"/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Conv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erting raw video frames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to skelet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 da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 ens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ur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es privacy</a:t>
            </a:r>
          </a:p>
          <a:p>
            <a:pPr algn="l">
              <a:lnSpc>
                <a:spcPts val="6783"/>
              </a:lnSpc>
              <a:spcBef>
                <a:spcPct val="0"/>
              </a:spcBef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Model Accuracy:</a:t>
            </a:r>
          </a:p>
          <a:p>
            <a:pPr algn="l" marL="1375196" indent="-458399" lvl="2">
              <a:lnSpc>
                <a:spcPts val="6783"/>
              </a:lnSpc>
              <a:spcBef>
                <a:spcPct val="0"/>
              </a:spcBef>
              <a:buFont typeface="Arial"/>
              <a:buChar char="⚬"/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Small dataset may lead 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low accu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acy or ov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erfitting</a:t>
            </a:r>
          </a:p>
          <a:p>
            <a:pPr algn="l">
              <a:lnSpc>
                <a:spcPts val="6783"/>
              </a:lnSpc>
              <a:spcBef>
                <a:spcPct val="0"/>
              </a:spcBef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System Incompatible:</a:t>
            </a:r>
          </a:p>
          <a:p>
            <a:pPr algn="l" marL="1375196" indent="-458399" lvl="2">
              <a:lnSpc>
                <a:spcPts val="6783"/>
              </a:lnSpc>
              <a:spcBef>
                <a:spcPct val="0"/>
              </a:spcBef>
              <a:buFont typeface="Arial"/>
              <a:buChar char="⚬"/>
            </a:pP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3184" strike="noStrike" u="none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ibraries are not fully compatible with the target hardware platform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0196" y="2400300"/>
            <a:ext cx="8754852" cy="5252911"/>
          </a:xfrm>
          <a:custGeom>
            <a:avLst/>
            <a:gdLst/>
            <a:ahLst/>
            <a:cxnLst/>
            <a:rect r="r" b="b" t="t" l="l"/>
            <a:pathLst>
              <a:path h="5252911" w="8754852">
                <a:moveTo>
                  <a:pt x="0" y="0"/>
                </a:moveTo>
                <a:lnTo>
                  <a:pt x="8754852" y="0"/>
                </a:lnTo>
                <a:lnTo>
                  <a:pt x="8754852" y="5252911"/>
                </a:lnTo>
                <a:lnTo>
                  <a:pt x="0" y="5252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00300"/>
            <a:ext cx="6429822" cy="5439233"/>
          </a:xfrm>
          <a:custGeom>
            <a:avLst/>
            <a:gdLst/>
            <a:ahLst/>
            <a:cxnLst/>
            <a:rect r="r" b="b" t="t" l="l"/>
            <a:pathLst>
              <a:path h="5439233" w="6429822">
                <a:moveTo>
                  <a:pt x="0" y="0"/>
                </a:moveTo>
                <a:lnTo>
                  <a:pt x="6429822" y="0"/>
                </a:lnTo>
                <a:lnTo>
                  <a:pt x="6429822" y="5439233"/>
                </a:lnTo>
                <a:lnTo>
                  <a:pt x="0" y="543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576634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Records as csv and histogram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25939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911" y="8623751"/>
            <a:ext cx="2328036" cy="1570723"/>
          </a:xfrm>
          <a:custGeom>
            <a:avLst/>
            <a:gdLst/>
            <a:ahLst/>
            <a:cxnLst/>
            <a:rect r="r" b="b" t="t" l="l"/>
            <a:pathLst>
              <a:path h="1570723" w="2328036">
                <a:moveTo>
                  <a:pt x="0" y="0"/>
                </a:moveTo>
                <a:lnTo>
                  <a:pt x="2328036" y="0"/>
                </a:lnTo>
                <a:lnTo>
                  <a:pt x="2328036" y="1570723"/>
                </a:lnTo>
                <a:lnTo>
                  <a:pt x="0" y="1570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6520" y="3194815"/>
            <a:ext cx="14810427" cy="4634421"/>
          </a:xfrm>
          <a:custGeom>
            <a:avLst/>
            <a:gdLst/>
            <a:ahLst/>
            <a:cxnLst/>
            <a:rect r="r" b="b" t="t" l="l"/>
            <a:pathLst>
              <a:path h="4634421" w="14810427">
                <a:moveTo>
                  <a:pt x="0" y="0"/>
                </a:moveTo>
                <a:lnTo>
                  <a:pt x="14810427" y="0"/>
                </a:lnTo>
                <a:lnTo>
                  <a:pt x="14810427" y="4634421"/>
                </a:lnTo>
                <a:lnTo>
                  <a:pt x="0" y="4634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134144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Division of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39813" y="8863755"/>
            <a:ext cx="5808374" cy="527709"/>
            <a:chOff x="0" y="0"/>
            <a:chExt cx="1964438" cy="178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4438" cy="178475"/>
            </a:xfrm>
            <a:custGeom>
              <a:avLst/>
              <a:gdLst/>
              <a:ahLst/>
              <a:cxnLst/>
              <a:rect r="r" b="b" t="t" l="l"/>
              <a:pathLst>
                <a:path h="178475" w="1964438">
                  <a:moveTo>
                    <a:pt x="982219" y="0"/>
                  </a:moveTo>
                  <a:cubicBezTo>
                    <a:pt x="439754" y="0"/>
                    <a:pt x="0" y="39953"/>
                    <a:pt x="0" y="89238"/>
                  </a:cubicBezTo>
                  <a:cubicBezTo>
                    <a:pt x="0" y="138522"/>
                    <a:pt x="439754" y="178475"/>
                    <a:pt x="982219" y="178475"/>
                  </a:cubicBezTo>
                  <a:cubicBezTo>
                    <a:pt x="1524683" y="178475"/>
                    <a:pt x="1964438" y="138522"/>
                    <a:pt x="1964438" y="89238"/>
                  </a:cubicBezTo>
                  <a:cubicBezTo>
                    <a:pt x="1964438" y="39953"/>
                    <a:pt x="1524683" y="0"/>
                    <a:pt x="982219" y="0"/>
                  </a:cubicBezTo>
                  <a:close/>
                </a:path>
              </a:pathLst>
            </a:custGeom>
            <a:solidFill>
              <a:srgbClr val="FDB91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4166" y="-21368"/>
              <a:ext cx="1596106" cy="183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467338" y="6487629"/>
            <a:ext cx="3353324" cy="2639981"/>
          </a:xfrm>
          <a:custGeom>
            <a:avLst/>
            <a:gdLst/>
            <a:ahLst/>
            <a:cxnLst/>
            <a:rect r="r" b="b" t="t" l="l"/>
            <a:pathLst>
              <a:path h="2639981" w="3353324">
                <a:moveTo>
                  <a:pt x="0" y="0"/>
                </a:moveTo>
                <a:lnTo>
                  <a:pt x="3353324" y="0"/>
                </a:lnTo>
                <a:lnTo>
                  <a:pt x="3353324" y="2639980"/>
                </a:lnTo>
                <a:lnTo>
                  <a:pt x="0" y="2639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3291" y="2788604"/>
            <a:ext cx="1200141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43291" y="4154305"/>
            <a:ext cx="1200141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Thank you!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98781" y="-3723493"/>
            <a:ext cx="7051175" cy="8406468"/>
            <a:chOff x="0" y="0"/>
            <a:chExt cx="9401566" cy="11208623"/>
          </a:xfrm>
        </p:grpSpPr>
        <p:sp>
          <p:nvSpPr>
            <p:cNvPr name="Freeform 4" id="4"/>
            <p:cNvSpPr/>
            <p:nvPr/>
          </p:nvSpPr>
          <p:spPr>
            <a:xfrm flipH="false" flipV="false" rot="2123307">
              <a:off x="2786108" y="1090831"/>
              <a:ext cx="5528000" cy="5519170"/>
            </a:xfrm>
            <a:custGeom>
              <a:avLst/>
              <a:gdLst/>
              <a:ahLst/>
              <a:cxnLst/>
              <a:rect r="r" b="b" t="t" l="l"/>
              <a:pathLst>
                <a:path h="5519170" w="5528000">
                  <a:moveTo>
                    <a:pt x="0" y="0"/>
                  </a:moveTo>
                  <a:lnTo>
                    <a:pt x="5528000" y="0"/>
                  </a:lnTo>
                  <a:lnTo>
                    <a:pt x="5528000" y="5519170"/>
                  </a:lnTo>
                  <a:lnTo>
                    <a:pt x="0" y="551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24244">
              <a:off x="5239820" y="6532468"/>
              <a:ext cx="3350267" cy="3344915"/>
            </a:xfrm>
            <a:custGeom>
              <a:avLst/>
              <a:gdLst/>
              <a:ahLst/>
              <a:cxnLst/>
              <a:rect r="r" b="b" t="t" l="l"/>
              <a:pathLst>
                <a:path h="3344915" w="3350267">
                  <a:moveTo>
                    <a:pt x="0" y="0"/>
                  </a:moveTo>
                  <a:lnTo>
                    <a:pt x="3350267" y="0"/>
                  </a:lnTo>
                  <a:lnTo>
                    <a:pt x="3350267" y="3344916"/>
                  </a:lnTo>
                  <a:lnTo>
                    <a:pt x="0" y="3344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770015">
              <a:off x="452780" y="6160506"/>
              <a:ext cx="4601780" cy="4594429"/>
            </a:xfrm>
            <a:custGeom>
              <a:avLst/>
              <a:gdLst/>
              <a:ahLst/>
              <a:cxnLst/>
              <a:rect r="r" b="b" t="t" l="l"/>
              <a:pathLst>
                <a:path h="4594429" w="4601780">
                  <a:moveTo>
                    <a:pt x="0" y="0"/>
                  </a:moveTo>
                  <a:lnTo>
                    <a:pt x="4601780" y="0"/>
                  </a:lnTo>
                  <a:lnTo>
                    <a:pt x="4601780" y="4594429"/>
                  </a:lnTo>
                  <a:lnTo>
                    <a:pt x="0" y="4594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384267" y="4312039"/>
            <a:ext cx="6096657" cy="7850315"/>
            <a:chOff x="0" y="0"/>
            <a:chExt cx="8128876" cy="10467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6150" y="0"/>
              <a:ext cx="5083875" cy="5075754"/>
            </a:xfrm>
            <a:custGeom>
              <a:avLst/>
              <a:gdLst/>
              <a:ahLst/>
              <a:cxnLst/>
              <a:rect r="r" b="b" t="t" l="l"/>
              <a:pathLst>
                <a:path h="5075754" w="5083875">
                  <a:moveTo>
                    <a:pt x="0" y="0"/>
                  </a:moveTo>
                  <a:lnTo>
                    <a:pt x="5083875" y="0"/>
                  </a:lnTo>
                  <a:lnTo>
                    <a:pt x="5083875" y="5075754"/>
                  </a:lnTo>
                  <a:lnTo>
                    <a:pt x="0" y="507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2247552">
              <a:off x="4429994" y="3537663"/>
              <a:ext cx="3081103" cy="3076182"/>
            </a:xfrm>
            <a:custGeom>
              <a:avLst/>
              <a:gdLst/>
              <a:ahLst/>
              <a:cxnLst/>
              <a:rect r="r" b="b" t="t" l="l"/>
              <a:pathLst>
                <a:path h="3076182" w="3081103">
                  <a:moveTo>
                    <a:pt x="0" y="0"/>
                  </a:moveTo>
                  <a:lnTo>
                    <a:pt x="3081103" y="0"/>
                  </a:lnTo>
                  <a:lnTo>
                    <a:pt x="3081103" y="3076182"/>
                  </a:lnTo>
                  <a:lnTo>
                    <a:pt x="0" y="307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2893323">
              <a:off x="869239" y="5368891"/>
              <a:ext cx="4232068" cy="4225308"/>
            </a:xfrm>
            <a:custGeom>
              <a:avLst/>
              <a:gdLst/>
              <a:ahLst/>
              <a:cxnLst/>
              <a:rect r="r" b="b" t="t" l="l"/>
              <a:pathLst>
                <a:path h="4225308" w="4232068">
                  <a:moveTo>
                    <a:pt x="0" y="0"/>
                  </a:moveTo>
                  <a:lnTo>
                    <a:pt x="4232068" y="0"/>
                  </a:lnTo>
                  <a:lnTo>
                    <a:pt x="4232068" y="4225308"/>
                  </a:lnTo>
                  <a:lnTo>
                    <a:pt x="0" y="4225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DAGnkVqkFsQ</dc:identifier>
  <dcterms:modified xsi:type="dcterms:W3CDTF">2011-08-01T06:04:30Z</dcterms:modified>
  <cp:revision>1</cp:revision>
  <dc:title>comp 4531 project</dc:title>
</cp:coreProperties>
</file>